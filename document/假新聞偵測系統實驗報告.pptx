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5" r:id="rId5"/>
    <p:sldId id="268" r:id="rId6"/>
    <p:sldId id="259" r:id="rId7"/>
    <p:sldId id="266" r:id="rId8"/>
    <p:sldId id="260" r:id="rId9"/>
    <p:sldId id="261" r:id="rId10"/>
    <p:sldId id="262" r:id="rId11"/>
    <p:sldId id="269" r:id="rId12"/>
    <p:sldId id="263" r:id="rId13"/>
    <p:sldId id="267" r:id="rId14"/>
    <p:sldId id="264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6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6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工作表1!$B$1</c:f>
              <c:strCache>
                <c:ptCount val="1"/>
                <c:pt idx="0">
                  <c:v>比例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0E60-40EE-AE26-A3529198E53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2-4687-44EB-8BCD-485A058ED8C4}"/>
              </c:ext>
            </c:extLst>
          </c:dPt>
          <c:dLbls>
            <c:dLbl>
              <c:idx val="1"/>
              <c:layout>
                <c:manualLayout>
                  <c:x val="0.24928002518365372"/>
                  <c:y val="-5.8190792636673469E-2"/>
                </c:manualLayout>
              </c:layout>
              <c:tx>
                <c:rich>
                  <a:bodyPr/>
                  <a:lstStyle/>
                  <a:p>
                    <a:r>
                      <a:rPr lang="en-US" altLang="zh-TW" dirty="0"/>
                      <a:t>54.8%</a:t>
                    </a:r>
                  </a:p>
                </c:rich>
              </c:tx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687-44EB-8BCD-485A058ED8C4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zh-TW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/>
            </c:extLst>
          </c:dLbls>
          <c:cat>
            <c:strRef>
              <c:f>工作表1!$A$2:$A$3</c:f>
              <c:strCache>
                <c:ptCount val="2"/>
                <c:pt idx="0">
                  <c:v>Fake</c:v>
                </c:pt>
                <c:pt idx="1">
                  <c:v>TRUE</c:v>
                </c:pt>
              </c:strCache>
            </c:strRef>
          </c:cat>
          <c:val>
            <c:numRef>
              <c:f>工作表1!$B$2:$B$3</c:f>
              <c:numCache>
                <c:formatCode>General</c:formatCode>
                <c:ptCount val="2"/>
                <c:pt idx="0">
                  <c:v>0.45159036206941172</c:v>
                </c:pt>
                <c:pt idx="1">
                  <c:v>0.54840963793058828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87-44EB-8BCD-485A058ED8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2F3C7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 Score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97.1</c:v>
                </c:pt>
                <c:pt idx="1">
                  <c:v>95.82</c:v>
                </c:pt>
                <c:pt idx="2">
                  <c:v>99.03</c:v>
                </c:pt>
                <c:pt idx="3">
                  <c:v>97.4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B3-415C-97F1-07F9DA1D95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DistilBERT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Accuracy</c:v>
                </c:pt>
                <c:pt idx="1">
                  <c:v>Precision</c:v>
                </c:pt>
                <c:pt idx="2">
                  <c:v>Recall</c:v>
                </c:pt>
                <c:pt idx="3">
                  <c:v>F1 Score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99.754000000000005</c:v>
                </c:pt>
                <c:pt idx="1">
                  <c:v>99.763999999999996</c:v>
                </c:pt>
                <c:pt idx="2">
                  <c:v>99.787999999999997</c:v>
                </c:pt>
                <c:pt idx="3">
                  <c:v>99.775999999999996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B3-415C-97F1-07F9DA1D95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Arial"/>
              </a:defRPr>
            </a:pPr>
            <a:endParaRPr lang="zh-TW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l"/>
        <c:majorGridlines>
          <c:spPr>
            <a:ln w="6350" cap="flat">
              <a:solidFill>
                <a:srgbClr val="E3D9D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Arial"/>
              </a:defRPr>
            </a:pPr>
            <a:endParaRPr lang="zh-TW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6B6B"/>
              </a:solidFill>
            </a:defRPr>
          </a:pPr>
          <a:endParaRPr lang="zh-TW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4801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479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1988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0258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clmentbisaillon/fake-and-real-news-datase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828800"/>
            <a:ext cx="5943600" cy="5943600"/>
          </a:xfrm>
          <a:prstGeom prst="ellipse">
            <a:avLst/>
          </a:prstGeom>
          <a:solidFill>
            <a:srgbClr val="990011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194560" y="4114800"/>
            <a:ext cx="4754880" cy="4754880"/>
          </a:xfrm>
          <a:prstGeom prst="ellipse">
            <a:avLst/>
          </a:prstGeom>
          <a:solidFill>
            <a:srgbClr val="990011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自然語言處理 Team Project · 期末成果報告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9601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結合 BERT 與傳統機器學習的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假新聞偵測系統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2377440" cy="41148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112820003　辛政隆</a:t>
            </a:r>
            <a:endParaRPr lang="en-US" sz="1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112820025　陳翊揚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9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實驗動機．資料分析．模型訓練．成果評估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動機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研究動機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Fake News Detection Matters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假新聞與誤導性資訊在社群媒體與新聞平台上快速傳播，已成為嚴重的社會挑戰，足以操弄輿論、影響金融市場甚至政治穩定。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blurRad="127000" dist="38100" dir="8100000" algn="bl" rotWithShape="0">
              <a:srgbClr val="990011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429000"/>
            <a:ext cx="82296" cy="196596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68503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挑戰一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39959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語義複雜性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60120" y="45079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假新聞常刻意模仿正式新聞用詞（諷刺、標題黨），單純的關鍵字過濾難以辨識其背後真實意圖。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342900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blurRad="127000" dist="38100" dir="8100000" algn="bl" rotWithShape="0">
              <a:srgbClr val="990011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3429000"/>
            <a:ext cx="82296" cy="196596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68503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挑戰二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39959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語境細微差異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6583680" y="4507992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文字意義隨上下文改變，傳統機器學習模型（SVM、隨機森林）難以捕捉深層語境。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715000"/>
            <a:ext cx="10881360" cy="6858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57150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　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建立一套高準確度的「自動化假新聞偵測系統」，協助因應每日龐大的資訊查核需求。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資料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資料集介紹</a:t>
            </a:r>
            <a:r>
              <a:rPr lang="en-US" altLang="zh-TW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139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來源：</a:t>
            </a: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Kaggle Fake News Dataset</a:t>
            </a: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（已標記「可靠」與「不可靠」新聞文章）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原始資料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5257800" cy="1783080"/>
        </p:xfrm>
        <a:graphic>
          <a:graphicData uri="http://schemas.openxmlformats.org/drawingml/2006/table">
            <a:tbl>
              <a:tblPr/>
              <a:tblGrid>
                <a:gridCol w="2891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檔案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筆數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23,481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True.csv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44,898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263640" y="19202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清理後資料（cleaned_news.csv）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331720"/>
          <a:ext cx="5257800" cy="17830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24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2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標籤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筆數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比例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(0)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(1)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21,190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38,639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640080" y="4617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資料清理步驟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" y="51846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移除空值列　</a:t>
            </a: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－631 筆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914400" y="5577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刪除 text 欄位為空的列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63640" y="5074920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37960" y="518464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移除重複列　</a:t>
            </a: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－5,628 筆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537960" y="557784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以文字內容去重，保留第一筆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共移除 6,259 筆資料，最終保留 38,639 筆作為訓練／測試基礎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22" name="圖表 21"/>
          <p:cNvGraphicFramePr/>
          <p:nvPr>
            <p:extLst>
              <p:ext uri="{D42A27DB-BD31-4B8C-83A1-F6EECF244321}">
                <p14:modId xmlns:p14="http://schemas.microsoft.com/office/powerpoint/2010/main" val="1862797275"/>
              </p:ext>
            </p:extLst>
          </p:nvPr>
        </p:nvGraphicFramePr>
        <p:xfrm>
          <a:off x="9058656" y="-531114"/>
          <a:ext cx="2909824" cy="2807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Text 12"/>
          <p:cNvSpPr/>
          <p:nvPr/>
        </p:nvSpPr>
        <p:spPr>
          <a:xfrm>
            <a:off x="10880620" y="585216"/>
            <a:ext cx="42953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250" dirty="0"/>
              <a:t>45.2%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資料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資料集介紹</a:t>
            </a:r>
            <a:endParaRPr lang="en-US" sz="3000" dirty="0"/>
          </a:p>
        </p:txBody>
      </p:sp>
      <p:sp>
        <p:nvSpPr>
          <p:cNvPr id="11" name="Shape 7"/>
          <p:cNvSpPr/>
          <p:nvPr/>
        </p:nvSpPr>
        <p:spPr>
          <a:xfrm>
            <a:off x="640080" y="1842516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" y="195224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移除空值列　</a:t>
            </a: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－631 筆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914400" y="234543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刪除 text 欄位為空的列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111240" y="1842516"/>
            <a:ext cx="52578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85560" y="1952244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移除重複列　</a:t>
            </a: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－5,628 筆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385560" y="2345436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以文字內容去重，保留第一筆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共移除 6,259 筆資料，最終保留 38,639 筆作為訓練／測試基礎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21" name="圖片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998418"/>
            <a:ext cx="3947502" cy="1981372"/>
          </a:xfrm>
          <a:prstGeom prst="rect">
            <a:avLst/>
          </a:prstGeom>
        </p:spPr>
      </p:pic>
      <p:pic>
        <p:nvPicPr>
          <p:cNvPr id="24" name="圖片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0760" y="2912364"/>
            <a:ext cx="5875529" cy="1539373"/>
          </a:xfrm>
          <a:prstGeom prst="rect">
            <a:avLst/>
          </a:prstGeom>
        </p:spPr>
      </p:pic>
      <p:pic>
        <p:nvPicPr>
          <p:cNvPr id="25" name="圖片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4634617"/>
            <a:ext cx="5959356" cy="1234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3661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資料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資料集介紹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共移除 6,259 筆資料，最終保留 38,639 筆作為訓練／測試基礎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975" y="2799788"/>
            <a:ext cx="2384864" cy="1713208"/>
          </a:xfrm>
          <a:prstGeom prst="rect">
            <a:avLst/>
          </a:prstGeom>
        </p:spPr>
      </p:pic>
      <p:sp>
        <p:nvSpPr>
          <p:cNvPr id="20" name="Shape 7"/>
          <p:cNvSpPr/>
          <p:nvPr/>
        </p:nvSpPr>
        <p:spPr>
          <a:xfrm>
            <a:off x="1026791" y="2837658"/>
            <a:ext cx="899663" cy="592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22" name="Text 8"/>
          <p:cNvSpPr/>
          <p:nvPr/>
        </p:nvSpPr>
        <p:spPr>
          <a:xfrm>
            <a:off x="1147172" y="2947386"/>
            <a:ext cx="6993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500" dirty="0"/>
              <a:t>True.csv</a:t>
            </a:r>
            <a:endParaRPr lang="en-US" sz="1500" dirty="0"/>
          </a:p>
        </p:txBody>
      </p:sp>
      <p:sp>
        <p:nvSpPr>
          <p:cNvPr id="26" name="Shape 7"/>
          <p:cNvSpPr/>
          <p:nvPr/>
        </p:nvSpPr>
        <p:spPr>
          <a:xfrm>
            <a:off x="1026791" y="3780170"/>
            <a:ext cx="899663" cy="5921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27" name="Text 8"/>
          <p:cNvSpPr/>
          <p:nvPr/>
        </p:nvSpPr>
        <p:spPr>
          <a:xfrm>
            <a:off x="1147172" y="3889898"/>
            <a:ext cx="6993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500" dirty="0"/>
              <a:t>Fake.csv</a:t>
            </a:r>
            <a:endParaRPr lang="en-US" sz="1500" dirty="0"/>
          </a:p>
        </p:txBody>
      </p:sp>
      <p:sp>
        <p:nvSpPr>
          <p:cNvPr id="6" name="向右箭號 5"/>
          <p:cNvSpPr/>
          <p:nvPr/>
        </p:nvSpPr>
        <p:spPr>
          <a:xfrm>
            <a:off x="2553723" y="3475521"/>
            <a:ext cx="514904" cy="3867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Shape 7"/>
          <p:cNvSpPr/>
          <p:nvPr/>
        </p:nvSpPr>
        <p:spPr>
          <a:xfrm>
            <a:off x="7207129" y="1965960"/>
            <a:ext cx="4209554" cy="33751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29" name="Text 8"/>
          <p:cNvSpPr/>
          <p:nvPr/>
        </p:nvSpPr>
        <p:spPr>
          <a:xfrm>
            <a:off x="8565961" y="2125758"/>
            <a:ext cx="149188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TW" sz="1500" dirty="0"/>
              <a:t>Cleaned_news.csv</a:t>
            </a:r>
            <a:endParaRPr lang="en-US" sz="1500" dirty="0"/>
          </a:p>
        </p:txBody>
      </p:sp>
      <p:sp>
        <p:nvSpPr>
          <p:cNvPr id="30" name="向右箭號 29"/>
          <p:cNvSpPr/>
          <p:nvPr/>
        </p:nvSpPr>
        <p:spPr>
          <a:xfrm>
            <a:off x="6406187" y="3463035"/>
            <a:ext cx="514904" cy="38671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2481" y="2551176"/>
            <a:ext cx="3558848" cy="260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035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發現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關鍵發現：Reuters 標頭偏差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資料清理過程中發現的隱性捷徑特徵，足以讓模型「學錯重點」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77440"/>
            <a:ext cx="2514600" cy="82296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9611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觀察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True.csv 真新聞幾乎 100% 來自路透社，文章開頭固定以「CITY (Reuters) –」格式呈現。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10896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42900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2377440"/>
            <a:ext cx="251460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4" name="Text 12"/>
          <p:cNvSpPr/>
          <p:nvPr/>
        </p:nvSpPr>
        <p:spPr>
          <a:xfrm>
            <a:off x="368503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9900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68503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68503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模型學到一條捷徑：「有 Reuters 格式 ＝ 真新聞」，而非真正理解新聞內容。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89788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2377440"/>
            <a:ext cx="251460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20" name="Text 18"/>
          <p:cNvSpPr/>
          <p:nvPr/>
        </p:nvSpPr>
        <p:spPr>
          <a:xfrm>
            <a:off x="647395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9900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7395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後果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7395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遇到 BBC、CNN 等其他來源的真新聞時，模型以 99%＋ 的信心誤判為假新聞。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686800" y="37719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6B6B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006840" y="2377440"/>
            <a:ext cx="251460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06840" y="2377440"/>
            <a:ext cx="2514600" cy="82296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26517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9262872" y="32461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解法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262872" y="3657600"/>
            <a:ext cx="20116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 Reuters 標頭，強迫模型改從文章「語意與寫作風格」本身學習真假新聞的差異。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9436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　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移除標頭後，模型被迫從「文章語意」而非「來源格式」學習，泛化能力顯著提升（詳見下頁實測結果）。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790" y="2662721"/>
            <a:ext cx="3262763" cy="3015242"/>
          </a:xfrm>
          <a:prstGeom prst="rect">
            <a:avLst/>
          </a:prstGeom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971" y="783818"/>
            <a:ext cx="10058400" cy="1677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485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分析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LDA 主題建模分析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各類別各取 5,000 筆樣本，建模 5 個主題（n_topics = 5）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61" cy="2487168"/>
        </p:xfrm>
        <a:graphic>
          <a:graphicData uri="http://schemas.openxmlformats.org/drawingml/2006/table">
            <a:tbl>
              <a:tblPr/>
              <a:tblGrid>
                <a:gridCol w="19586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61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D9D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 News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CADC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News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主要詞彙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obama, twitter, video, com, realdonaldtrump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trade, eu, european, federal, security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敘事風格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情緒化、社群媒體傳播導向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政策導向、制度性語言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話題範圍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集中在陰謀論、個人攻擊、槍擊事件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涵蓋國際貿易、司法、政治選舉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983480"/>
            <a:ext cx="108813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4983480"/>
            <a:ext cx="82296" cy="91440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49834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分析結論　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真假新聞在「敘事風格」與「話題廣度」上存在本質性差異——假新聞偏情緒化、聚焦個人與陰謀論；真新聞則偏制度語言、議題涵蓋更廣，這正是模型應學習的關鍵特徵。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方法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方法：模型架構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以傳統機器學習作為基準，與微調後的深度學習模型進行對照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5257800" cy="171686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blurRad="127000" dist="38100" dir="8100000" algn="bl" rotWithShape="0">
              <a:srgbClr val="990011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82296" cy="1716865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5603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2F3C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2962972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 + TF-IDF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63640" y="2331720"/>
            <a:ext cx="5257800" cy="1716865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  <a:effectLst>
            <a:outerShdw blurRad="127000" dist="38100" dir="8100000" algn="bl" rotWithShape="0">
              <a:srgbClr val="990011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2331720"/>
            <a:ext cx="82296" cy="1716865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256032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96549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DistilBERT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40080" y="4572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訓練設定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38,639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資料筆數（8 : 2 切分）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45186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1" name="Text 19"/>
          <p:cNvSpPr/>
          <p:nvPr/>
        </p:nvSpPr>
        <p:spPr>
          <a:xfrm>
            <a:off x="363474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RTX 4050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63474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epochs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44652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 2,898 steps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75420" y="5029200"/>
            <a:ext cx="2446020" cy="105156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27" name="Text 25"/>
          <p:cNvSpPr/>
          <p:nvPr/>
        </p:nvSpPr>
        <p:spPr>
          <a:xfrm>
            <a:off x="9258300" y="5166360"/>
            <a:ext cx="20802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12 分 20 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258300" y="5669280"/>
            <a:ext cx="20802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總訓練時間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結果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模型效能比較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測試集 7,728 筆（佔全部資料 20%）上的整體表現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286000"/>
          <a:ext cx="10881359" cy="1645920"/>
        </p:xfrm>
        <a:graphic>
          <a:graphicData uri="http://schemas.openxmlformats.org/drawingml/2006/table">
            <a:tbl>
              <a:tblPr/>
              <a:tblGrid>
                <a:gridCol w="34820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98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8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9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498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Score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(TF-IDF)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 (best epoch)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Chart 0"/>
          <p:cNvGraphicFramePr/>
          <p:nvPr/>
        </p:nvGraphicFramePr>
        <p:xfrm>
          <a:off x="640080" y="4160520"/>
          <a:ext cx="69494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4"/>
          <p:cNvSpPr/>
          <p:nvPr/>
        </p:nvSpPr>
        <p:spPr>
          <a:xfrm>
            <a:off x="7955280" y="4160520"/>
            <a:ext cx="35661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55280" y="4160520"/>
            <a:ext cx="3566160" cy="822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0" y="44165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最佳模型：Epoch 2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8229600" y="4873752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Loss　0.0135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　99.776%</a:t>
            </a: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endParaRPr lang="en-US" sz="12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epoch 訓練 Loss 持續下降，但驗證 Loss 略升，已出現過擬合跡象，故採用第 2 epoch checkpoint。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1AB7079B-1FCA-BF69-7812-57ED25C85B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623" y="1202722"/>
            <a:ext cx="11126753" cy="40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668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驗證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B2B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實際新聞測試：泛化能力驗證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4 篇模型「從未見過」的外部新聞，檢驗真實世界表現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209720"/>
              </p:ext>
            </p:extLst>
          </p:nvPr>
        </p:nvGraphicFramePr>
        <p:xfrm>
          <a:off x="640080" y="2286000"/>
          <a:ext cx="10881360" cy="2286000"/>
        </p:xfrm>
        <a:graphic>
          <a:graphicData uri="http://schemas.openxmlformats.org/drawingml/2006/table">
            <a:tbl>
              <a:tblPr/>
              <a:tblGrid>
                <a:gridCol w="4352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0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62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115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文章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真實標籤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預測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預測（信心）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BBC — Putin / Zelensky 停火談判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r>
                        <a:rPr lang="zh-TW" alt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 — Trump DOJ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r>
                        <a:rPr lang="zh-TW" alt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假新聞 — Putin 地下城陰謀論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Real（誤判）✗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r>
                        <a:rPr lang="zh-TW" alt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假新聞 — Trump 秘密島嶼 Deep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Real（誤判）✗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FAKE</a:t>
                      </a:r>
                      <a:r>
                        <a:rPr lang="zh-TW" alt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2F3C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9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09160"/>
            <a:ext cx="5257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9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4709160"/>
            <a:ext cx="82296" cy="14173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6" name="Text 6"/>
          <p:cNvSpPr/>
          <p:nvPr/>
        </p:nvSpPr>
        <p:spPr>
          <a:xfrm>
            <a:off x="914400" y="4873752"/>
            <a:ext cx="475488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9900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　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四篇全部判斷正確；RF 對兩篇假新聞皆誤判為真，且機率落在 0.42–0.48（近乎隨機），顯示 TF-IDF 無法捕捉陰謀論文章在語意層面的風格特徵。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263640" y="4709160"/>
            <a:ext cx="5257800" cy="141732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487375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偏差修正前後對照（BBC / CNN 真新聞判斷）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537960" y="52760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舊版　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 筆／2 epochs　→　誤判 FAKE 99.5%　</a:t>
            </a:r>
            <a:r>
              <a:rPr lang="en-US" sz="1250" b="1" dirty="0">
                <a:solidFill>
                  <a:srgbClr val="FF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537960" y="56692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新版　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38,639 筆／3 epochs　→　正確 REAL 99.9%　</a:t>
            </a: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r>
              <a:rPr lang="zh-TW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前端展示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dirty="0"/>
              <a:t>直覺性使用模型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一鍵取得真</a:t>
            </a:r>
            <a:r>
              <a:rPr lang="en-US" altLang="zh-TW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zh-TW" alt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假判斷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 BERT 與傳統機器學習的假新聞偵測系統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97280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pic>
        <p:nvPicPr>
          <p:cNvPr id="16" name="圖片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46" y="2382169"/>
            <a:ext cx="6384426" cy="3328689"/>
          </a:xfrm>
          <a:prstGeom prst="rect">
            <a:avLst/>
          </a:prstGeom>
        </p:spPr>
      </p:pic>
      <p:pic>
        <p:nvPicPr>
          <p:cNvPr id="17" name="圖片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4472" y="1258572"/>
            <a:ext cx="5562480" cy="499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12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3017520"/>
            <a:ext cx="5486400" cy="5486400"/>
          </a:xfrm>
          <a:prstGeom prst="ellipse">
            <a:avLst/>
          </a:prstGeom>
          <a:solidFill>
            <a:srgbClr val="990011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1554480" cy="310896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結語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結論與未來展望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82296" cy="9601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128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發現一　</a:t>
            </a: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資料品質與偏差處理，比模型本身更關鍵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Reuters 標頭案例顯示，模型容易學到資料中隱藏的捷徑特徵；唯有審慎檢視並修正資料，才能訓練出真正具泛化能力的模型。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74720"/>
            <a:ext cx="82296" cy="960120"/>
          </a:xfrm>
          <a:prstGeom prst="rect">
            <a:avLst/>
          </a:prstGeom>
          <a:solidFill>
            <a:srgbClr val="99001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472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D9D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發現二　</a:t>
            </a: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深度語義理解能力：DistilBERT 明顯優於 Random Forest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88620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無論在測試集或真實世界新聞測試中，DistilBERT 皆展現更穩定、更高信心的判斷能力。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未來展望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52578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擴充資料來源，涵蓋更多元的新聞媒體與語言（如中文假新聞）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結合情緒極性、可讀性等語言特徵，提供更完整的「信心百分比」說明</a:t>
            </a:r>
            <a:endParaRPr lang="en-US" sz="1400" dirty="0"/>
          </a:p>
          <a:p>
            <a:pPr marL="342900" indent="-342900">
              <a:lnSpc>
                <a:spcPct val="130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持續優化模型，強化對新型態假新聞手法的泛化能力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721</Words>
  <Application>Microsoft Office PowerPoint</Application>
  <PresentationFormat>寬螢幕</PresentationFormat>
  <Paragraphs>210</Paragraphs>
  <Slides>14</Slides>
  <Notes>12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結合 BERT 與傳統機器學習的假新聞偵測系統</dc:title>
  <dc:subject>PptxGenJS Presentation</dc:subject>
  <dc:creator>辛政隆 / 陳翊揚</dc:creator>
  <cp:lastModifiedBy>pogcreep61@outlook.com</cp:lastModifiedBy>
  <cp:revision>13</cp:revision>
  <dcterms:created xsi:type="dcterms:W3CDTF">2026-06-08T08:43:03Z</dcterms:created>
  <dcterms:modified xsi:type="dcterms:W3CDTF">2026-06-09T14:08:39Z</dcterms:modified>
</cp:coreProperties>
</file>