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Accuracy</c:v>
                  </c:pt>
                  <c:pt idx="1">
                    <c:v>Precision</c:v>
                  </c:pt>
                  <c:pt idx="2">
                    <c:v>Recall</c:v>
                  </c:pt>
                  <c:pt idx="3">
                    <c:v>F1 Score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97.1</c:v>
                </c:pt>
                <c:pt idx="1">
                  <c:v>95.82</c:v>
                </c:pt>
                <c:pt idx="2">
                  <c:v>99.03</c:v>
                </c:pt>
                <c:pt idx="3">
                  <c:v>97.4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DistilBERT</c:v>
                </c:pt>
              </c:strCache>
            </c:strRef>
          </c:tx>
          <c:spPr>
            <a:solidFill>
              <a:srgbClr val="9900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Accuracy</c:v>
                  </c:pt>
                  <c:pt idx="1">
                    <c:v>Precision</c:v>
                  </c:pt>
                  <c:pt idx="2">
                    <c:v>Recall</c:v>
                  </c:pt>
                  <c:pt idx="3">
                    <c:v>F1 Score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99.754</c:v>
                </c:pt>
                <c:pt idx="1">
                  <c:v>99.764</c:v>
                </c:pt>
                <c:pt idx="2">
                  <c:v>99.788</c:v>
                </c:pt>
                <c:pt idx="3">
                  <c:v>99.776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l"/>
        <c:majorGridlines>
          <c:spPr>
            <a:ln w="6350" cap="flat">
              <a:solidFill>
                <a:srgbClr val="E3D9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B6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828800"/>
            <a:ext cx="5943600" cy="5943600"/>
          </a:xfrm>
          <a:prstGeom prst="ellipse">
            <a:avLst/>
          </a:prstGeom>
          <a:solidFill>
            <a:srgbClr val="990011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114800"/>
            <a:ext cx="4754880" cy="4754880"/>
          </a:xfrm>
          <a:prstGeom prst="ellipse">
            <a:avLst/>
          </a:prstGeom>
          <a:solidFill>
            <a:srgbClr val="990011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自然語言處理 Team Project · 期末成果報告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9601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結合 BERT 與傳統機器學習的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假新聞偵測系統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2377440" cy="41148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112820003　辛政隆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112820025　陳翊揚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9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實驗動機．資料分析．模型訓練．成果評估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動機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研究動機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Fake News Detection Matters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假新聞與誤導性資訊在社群媒體與新聞平台上快速傳播，已成為嚴重的社會挑戰，足以操弄輿論、影響金融市場甚至政治穩定。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sx="100000" sy="100000" kx="0" ky="0" algn="bl" rotWithShape="0" blurRad="127000" dist="38100" dir="8100000">
              <a:srgbClr val="990011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429000"/>
            <a:ext cx="82296" cy="196596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68503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挑戰一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99592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語義複雜性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0120" y="4507992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假新聞常刻意模仿正式新聞用詞（諷刺、標題黨），單純的關鍵字過濾難以辨識其背後真實意圖。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342900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sx="100000" sy="100000" kx="0" ky="0" algn="bl" rotWithShape="0" blurRad="127000" dist="38100" dir="8100000">
              <a:srgbClr val="99001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3429000"/>
            <a:ext cx="82296" cy="196596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68503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挑戰二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99592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語境細微差異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83680" y="4507992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文字意義隨上下文改變，傳統機器學習模型（SVM、隨機森林）難以捕捉深層語境。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715000"/>
            <a:ext cx="10881360" cy="6858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150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建立一套高準確度的「自動化假新聞偵測系統」，協助因應每日龐大的資訊查核需求。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資料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資料集介紹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來源：Kaggle Fake News Dataset（已標記「可靠」與「不可靠」新聞文章）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原始資料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257800" cy="1783080"/>
        </p:xfrm>
        <a:graphic>
          <a:graphicData uri="http://schemas.openxmlformats.org/drawingml/2006/table">
            <a:tbl>
              <a:tblPr/>
              <a:tblGrid>
                <a:gridCol w="2891790"/>
                <a:gridCol w="2366010"/>
              </a:tblGrid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檔案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筆數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23,481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44,898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1920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清理後資料（cleaned_news.csv）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331720"/>
          <a:ext cx="5257800" cy="1783080"/>
        </p:xfrm>
        <a:graphic>
          <a:graphicData uri="http://schemas.openxmlformats.org/drawingml/2006/table">
            <a:tbl>
              <a:tblPr/>
              <a:tblGrid>
                <a:gridCol w="2103120"/>
                <a:gridCol w="1682496"/>
                <a:gridCol w="1472184"/>
              </a:tblGrid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標籤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筆數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比例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(0)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38,639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資料清理步驟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5257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14400" y="51846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移除空值列　</a:t>
            </a:r>
            <a:pPr indent="0" marL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－631 筆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914400" y="5577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刪除 text 欄位為空的列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63640" y="5074920"/>
            <a:ext cx="5257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37960" y="51846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移除重複列　</a:t>
            </a:r>
            <a:pPr indent="0" marL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－5,628 筆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5577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以文字內容去重，保留第一筆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共移除 6,259 筆資料，最終保留 38,639 筆作為訓練／測試基礎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發現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關鍵發現：Reuters 標頭偏差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資料清理過程中發現的隱性捷徑特徵，足以讓模型「學錯重點」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377440"/>
            <a:ext cx="2514600" cy="82296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9611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觀察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True.csv 真新聞幾乎 100% 來自路透社，文章開頭固定以「CITY (Reuters) –」格式呈現。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08960" y="37719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B6B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2900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2377440"/>
            <a:ext cx="2514600" cy="822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4" name="Text 12"/>
          <p:cNvSpPr/>
          <p:nvPr/>
        </p:nvSpPr>
        <p:spPr>
          <a:xfrm>
            <a:off x="368503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900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68503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68503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模型學到一條捷徑：「有 Reuters 格式 ＝ 真新聞」，而非真正理解新聞內容。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897880" y="37719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B6B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2377440"/>
            <a:ext cx="2514600" cy="822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20" name="Text 18"/>
          <p:cNvSpPr/>
          <p:nvPr/>
        </p:nvSpPr>
        <p:spPr>
          <a:xfrm>
            <a:off x="647395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900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7395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後果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7395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 BBC、CNN 等其他來源的真新聞時，模型以 99%＋ 的信心誤判為假新聞。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686800" y="37719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B6B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0684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06840" y="2377440"/>
            <a:ext cx="2514600" cy="82296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26287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26287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 Reuters 標頭，強迫模型改從文章「語意與寫作風格」本身學習真假新聞的差異。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9436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　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移除標頭後，模型被迫從「文章語意」而非「來源格式」學習，泛化能力顯著提升（詳見下頁實測結果）。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分析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主題建模分析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各類別各取 5,000 筆樣本，建模 5 個主題（n_topics = 5）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2468880"/>
        </p:xfrm>
        <a:graphic>
          <a:graphicData uri="http://schemas.openxmlformats.org/drawingml/2006/table">
            <a:tbl>
              <a:tblPr/>
              <a:tblGrid>
                <a:gridCol w="1958645"/>
                <a:gridCol w="4461358"/>
                <a:gridCol w="4461358"/>
              </a:tblGrid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D9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News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News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主要詞彙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obama, twitter, video, com, realdonaldtrump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trade, eu, european, federal, security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敘事風格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情緒化、社群媒體傳播導向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政策導向、制度性語言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話題範圍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集中在陰謀論、個人攻擊、槍擊事件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涵蓋國際貿易、司法、政治選舉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983480"/>
            <a:ext cx="10881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4983480"/>
            <a:ext cx="82296" cy="91440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49834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分析結論　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真假新聞在「敘事風格」與「話題廣度」上存在本質性差異——假新聞偏情緒化、聚焦個人與陰謀論；真新聞則偏制度語言、議題涵蓋更廣，這正是模型應學習的關鍵特徵。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方法：模型架構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以傳統機器學習作為基準，與微調後的深度學習模型進行對照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2578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sx="100000" sy="100000" kx="0" ky="0" algn="bl" rotWithShape="0" blurRad="127000" dist="38100" dir="8100000">
              <a:srgbClr val="99001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82296" cy="187452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56032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8620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 + TF-IDF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341071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向量化（max_features = 20,000，stop_words = 'english'），作為傳統機器學習基準模型。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331720"/>
            <a:ext cx="52578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sx="100000" sy="100000" kx="0" ky="0" algn="bl" rotWithShape="0" blurRad="127000" dist="38100" dir="8100000">
              <a:srgbClr val="990011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2331720"/>
            <a:ext cx="82296" cy="18745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56032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8620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DistilBERT (distilbert-base-uncased)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0" y="341071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輕量化版本，能理解詞彙深層語境；針對新聞資料集微調，學習辨識誤導性資訊特徵。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訓練設定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38,639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資料筆數（8 : 2 切分）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45186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1" name="Text 19"/>
          <p:cNvSpPr/>
          <p:nvPr/>
        </p:nvSpPr>
        <p:spPr>
          <a:xfrm>
            <a:off x="363474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RTX 4050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63474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GPU．FP16 混合精度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epochs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4652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 2,898 steps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7542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12 分 20 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25830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總訓練時間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模型效能比較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測試集 7,728 筆（佔全部資料 20%）上的整體表現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1645920"/>
        </p:xfrm>
        <a:graphic>
          <a:graphicData uri="http://schemas.openxmlformats.org/drawingml/2006/table">
            <a:tbl>
              <a:tblPr/>
              <a:tblGrid>
                <a:gridCol w="3482035"/>
                <a:gridCol w="1849831"/>
                <a:gridCol w="1849831"/>
                <a:gridCol w="1849831"/>
                <a:gridCol w="1849831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(TF-IDF)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 (best epoch)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640080" y="4160520"/>
          <a:ext cx="69494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7955280" y="4160520"/>
            <a:ext cx="3566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55280" y="4160520"/>
            <a:ext cx="3566160" cy="822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0" y="44165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最佳模型：Epoch 2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0" y="4873752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Loss　0.0135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　99.776%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epoch 訓練 Loss 持續下降，但驗證 Loss 略升，已出現過擬合跡象，故採用第 2 epoch checkpoint。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驗證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實際新聞測試：泛化能力驗證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4 篇模型「從未見過」的外部新聞，檢驗真實世界表現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2194560"/>
        </p:xfrm>
        <a:graphic>
          <a:graphicData uri="http://schemas.openxmlformats.org/drawingml/2006/table">
            <a:tbl>
              <a:tblPr/>
              <a:tblGrid>
                <a:gridCol w="4352544"/>
                <a:gridCol w="1741018"/>
                <a:gridCol w="2176272"/>
                <a:gridCol w="261152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真實標籤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預測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預測（信心）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BBC — Putin / Zelensky 停火談判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REAL（99.96%）✓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— Trump DOJ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REAL（90.68%）✓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假新聞 — Putin 地下城陰謀論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Real（誤判）✗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FAKE（99.97%）✓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假新聞 — Trump 秘密島嶼 Deep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Real（誤判）✗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FAKE（99.96%）✓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09160"/>
            <a:ext cx="5257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4709160"/>
            <a:ext cx="82296" cy="14173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4873752"/>
            <a:ext cx="475488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　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四篇全部判斷正確；RF 對兩篇假新聞皆誤判為真，且機率落在 0.42–0.48（近乎隨機），顯示 TF-IDF 無法捕捉陰謀論文章在語意層面的風格特徵。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4709160"/>
            <a:ext cx="5257800" cy="141732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487375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偏差修正前後對照（BBC / CNN 真新聞判斷）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37960" y="52760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舊版　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筆／2 epochs　→　誤判 FAKE 99.5%　</a:t>
            </a:r>
            <a:pPr indent="0" marL="0">
              <a:buNone/>
            </a:pPr>
            <a:r>
              <a:rPr lang="en-US" sz="1250" b="1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537960" y="56692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　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38,639 筆／3 epochs　→　正確 REAL 99.9%　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017520"/>
            <a:ext cx="5486400" cy="5486400"/>
          </a:xfrm>
          <a:prstGeom prst="ellipse">
            <a:avLst/>
          </a:prstGeom>
          <a:solidFill>
            <a:srgbClr val="990011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結語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結論與未來展望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82296" cy="9601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發現一　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資料品質與偏差處理，比模型本身更關鍵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標頭案例顯示，模型容易學到資料中隱藏的捷徑特徵；唯有審慎檢視並修正資料，才能訓練出真正具泛化能力的模型。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82296" cy="9601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4728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發現二　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深度語義理解能力：DistilBERT 明顯優於 Random Forest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無論在測試集或真實世界新聞測試中，DistilBERT 皆展現更穩定、更高信心的判斷能力。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未來展望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52578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擴充資料來源，涵蓋更多元的新聞媒體與語言（如中文假新聞）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結合情緒極性、可讀性等語言特徵，提供更完整的「信心百分比」說明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持續優化模型，強化對新型態假新聞手法的泛化能力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9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　／　112820003 辛政隆　·　112820025 陳翊揚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結合 BERT 與傳統機器學習的假新聞偵測系統</dc:title>
  <dc:subject>PptxGenJS Presentation</dc:subject>
  <dc:creator>辛政隆 / 陳翊揚</dc:creator>
  <cp:lastModifiedBy>辛政隆 / 陳翊揚</cp:lastModifiedBy>
  <cp:revision>1</cp:revision>
  <dcterms:created xsi:type="dcterms:W3CDTF">2026-06-08T08:43:03Z</dcterms:created>
  <dcterms:modified xsi:type="dcterms:W3CDTF">2026-06-08T08:43:03Z</dcterms:modified>
</cp:coreProperties>
</file>